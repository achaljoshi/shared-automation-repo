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4"/>
    <p:restoredTop sz="94610"/>
  </p:normalViewPr>
  <p:slideViewPr>
    <p:cSldViewPr snapToGrid="0" snapToObjects="1">
      <p:cViewPr>
        <p:scale>
          <a:sx n="130" d="100"/>
          <a:sy n="130" d="100"/>
        </p:scale>
        <p:origin x="102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0123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— this deck covers why we need a shared framework, how it works, and the rollout plan. Start with the problem to set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team is solving the same problems independently. This creates a multiplier effect on bugs, effort, and inconsistency.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shared-core library is the engine. Teams consume it as a Maven dependency — no copy-paste. Shared feature files are pulled via Git submodule.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clear layers. Each is independently replaceable. Zoom into any layer 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SystemContext interface is the magic — it decouples the scenario from the page wiring. Same Gherkin, different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approved enterprise tech — no new tools to procure. JACOB is the only unusual dependency and it ships inside the shared-core 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government environment restriction has a pre-tested workaround baked into the design. None of these require IT escalation beyond one-time DLL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sample project is live on GitHub. Walkthrough: clone, open pom.xml, show SystemContext interface, run mvn test with tag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big-bang migration. Phase 1 can start tomorrow. Each phase delivers value independently — if Phase 3 is delayed, Phases 1 and 2 still save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70% number comes from measuring common scenarios across typical government project teams. Adjust for your team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474720" cy="3474720"/>
          </a:xfrm>
          <a:prstGeom prst="ellipse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B82F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7680960" y="-548640"/>
            <a:ext cx="2194560" cy="2194560"/>
          </a:xfrm>
          <a:prstGeom prst="ellipse">
            <a:avLst/>
          </a:prstGeom>
          <a:solidFill>
            <a:srgbClr val="CADCFC">
              <a:alpha val="15000"/>
            </a:srgbClr>
          </a:solidFill>
          <a:ln w="12700">
            <a:solidFill>
              <a:srgbClr val="CADCFC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-914400" y="3474720"/>
            <a:ext cx="3200400" cy="3200400"/>
          </a:xfrm>
          <a:prstGeom prst="ellipse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2560320" cy="292608"/>
          </a:xfrm>
          <a:prstGeom prst="roundRect">
            <a:avLst>
              <a:gd name="adj" fmla="val 15625"/>
            </a:avLst>
          </a:prstGeom>
          <a:solidFill>
            <a:srgbClr val="3B82F6">
              <a:alpha val="8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FFFFF"/>
                </a:solidFill>
              </a:rPr>
              <a:t>AUTOMATION STRATEGY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7772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Automation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Cross-Team Test Reuse Across Government Systems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023360"/>
            <a:ext cx="1645920" cy="411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0080" y="46634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ADCFC"/>
                </a:solidFill>
              </a:rPr>
              <a:t>Confidential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74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 — Siloed Automation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30352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Duplicated Work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30352" y="138988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Common scenarios (Login, Search, Upload) are rebuilt 5–10× across teams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709160" y="100584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873752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Bug Tax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873752" y="138988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Every bug fix must be applied independently in each team's codebase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22402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EF9EE"/>
          </a:solidFill>
          <a:ln w="12700">
            <a:solidFill>
              <a:srgbClr val="D9770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0352" y="2331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Slow Onboarding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0352" y="262432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Adding a new system requires rebuilding the entire framework from scratch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709160" y="22402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EF9EE"/>
          </a:solidFill>
          <a:ln w="12700">
            <a:solidFill>
              <a:srgbClr val="D9770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873752" y="2331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No Unified Quality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73752" y="262432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No single dashboard — each team reports separately, no cross-system view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65760" y="347472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EF9EE"/>
          </a:solidFill>
          <a:ln w="12700">
            <a:solidFill>
              <a:srgbClr val="D9770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530352" y="3566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Restricted Machines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30352" y="385876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Government environments block Docker, internet, and admin installs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09160" y="347472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EEF2FF"/>
          </a:solidFill>
          <a:ln w="12700">
            <a:solidFill>
              <a:srgbClr val="1E2761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4873752" y="3566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Siloed Knowledge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873752" y="385876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Automation expertise locked inside individual team boundaries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74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 — One Core, Many Systems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114800" y="1828800"/>
            <a:ext cx="1737360" cy="118872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114800" y="182880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shared-core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Library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28600" y="1005840"/>
            <a:ext cx="1508760" cy="685800"/>
          </a:xfrm>
          <a:prstGeom prst="roundRect">
            <a:avLst>
              <a:gd name="adj" fmla="val 9333"/>
            </a:avLst>
          </a:prstGeom>
          <a:solidFill>
            <a:srgbClr val="EEF2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28600" y="10058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System 1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Gov Portal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982980" y="1348740"/>
            <a:ext cx="3353046" cy="786384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228600" y="2606040"/>
            <a:ext cx="1508760" cy="685800"/>
          </a:xfrm>
          <a:prstGeom prst="roundRect">
            <a:avLst>
              <a:gd name="adj" fmla="val 9333"/>
            </a:avLst>
          </a:prstGeom>
          <a:solidFill>
            <a:srgbClr val="EEF2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28600" y="26060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System 2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Financial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737359" y="2866644"/>
            <a:ext cx="2834641" cy="36576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2044127" y="2051991"/>
            <a:ext cx="1508760" cy="685800"/>
          </a:xfrm>
          <a:prstGeom prst="roundRect">
            <a:avLst>
              <a:gd name="adj" fmla="val 9333"/>
            </a:avLst>
          </a:prstGeom>
          <a:solidFill>
            <a:srgbClr val="EEF2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073624" y="2051993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System 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+ Future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552887" y="2423160"/>
            <a:ext cx="591410" cy="0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6446520" y="1005840"/>
            <a:ext cx="1508760" cy="685800"/>
          </a:xfrm>
          <a:prstGeom prst="roundRect">
            <a:avLst>
              <a:gd name="adj" fmla="val 9333"/>
            </a:avLst>
          </a:prstGeom>
          <a:solidFill>
            <a:srgbClr val="EEF2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46520" y="10058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Shared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Features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46520" y="2606040"/>
            <a:ext cx="1508760" cy="685800"/>
          </a:xfrm>
          <a:prstGeom prst="roundRect">
            <a:avLst>
              <a:gd name="adj" fmla="val 9333"/>
            </a:avLst>
          </a:prstGeom>
          <a:solidFill>
            <a:srgbClr val="EEF2FF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6446520" y="26060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CI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E2761"/>
                </a:solidFill>
              </a:rPr>
              <a:t>Templates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92139" y="2571750"/>
            <a:ext cx="754382" cy="189738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320040" y="3547872"/>
            <a:ext cx="8503920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320040" y="3703320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566928" y="3685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Shared core JAR in GitLab Package Registry — no internet needed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20040" y="3968496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66928" y="39502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Common .feature files in one Git repo — single source of truth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20040" y="4233672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66928" y="42153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Each team keeps autonomy over their system-specific code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20040" y="4498848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66928" y="44805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Same scenario runs on ANY system — zero code duplication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320040" y="4764024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566928" y="47457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CI templates activated with one include line</a:t>
            </a:r>
            <a:endParaRPr lang="en-US" sz="950" dirty="0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289D44FB-5543-C896-3767-AA76BB74A966}"/>
              </a:ext>
            </a:extLst>
          </p:cNvPr>
          <p:cNvSpPr/>
          <p:nvPr/>
        </p:nvSpPr>
        <p:spPr>
          <a:xfrm>
            <a:off x="7200898" y="1719072"/>
            <a:ext cx="1" cy="868680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560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at a Glance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365760" y="960120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EEF2FF"/>
          </a:solidFill>
          <a:ln w="15240">
            <a:solidFill>
              <a:srgbClr val="1E2761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530352" y="1179576"/>
            <a:ext cx="292608" cy="29260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30352" y="11795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32688" y="1033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GitLab Package Registry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32688" y="132588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Internal Maven artifact host — fully offline, no external dependency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1764792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F0FFF4"/>
          </a:solidFill>
          <a:ln w="15240">
            <a:solidFill>
              <a:srgbClr val="16A34A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530352" y="1984248"/>
            <a:ext cx="292608" cy="2926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0352" y="19842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32688" y="18379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shared-core Library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21305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selenium-base · api-base · cucumber-base · testdata-base · jacob-base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5760" y="2569464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530352" y="2788920"/>
            <a:ext cx="292608" cy="29260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30352" y="27889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2688" y="26426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shared-features Repo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32688" y="293522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Common .feature files tagged @shared — Git submodule, one source of truth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65760" y="3374136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Shape 17"/>
          <p:cNvSpPr/>
          <p:nvPr/>
        </p:nvSpPr>
        <p:spPr>
          <a:xfrm>
            <a:off x="530352" y="3593592"/>
            <a:ext cx="292608" cy="29260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530352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32688" y="3447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CI Templates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32688" y="373989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Reusable .gitlab-ci.yml — teams onboard by adding a single include line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4178808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EEF2FF"/>
          </a:solidFill>
          <a:ln w="15240">
            <a:solidFill>
              <a:srgbClr val="3B82F6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Shape 22"/>
          <p:cNvSpPr/>
          <p:nvPr/>
        </p:nvSpPr>
        <p:spPr>
          <a:xfrm>
            <a:off x="530352" y="4398264"/>
            <a:ext cx="292608" cy="2926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530352" y="43982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32688" y="4251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4155"/>
                </a:solidFill>
              </a:rPr>
              <a:t>Team Repos (System 1…N)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2688" y="45445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System-specific page objects + step implementations only — full team autonomy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560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Cross-System Test Reuse Works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92608" y="960120"/>
            <a:ext cx="1664208" cy="347472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960120" y="112471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960120" y="11247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84048" y="158191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</a:rPr>
              <a:t>Shared Feature File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2336" y="2167128"/>
            <a:ext cx="1444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Common scenario in shared-features repo tagged @shared — unchanged for all systems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080260" y="960120"/>
            <a:ext cx="1664208" cy="347472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2747772" y="112471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747772" y="11247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1700" y="158191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</a:rPr>
              <a:t>Abstract Step Defs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189988" y="2167128"/>
            <a:ext cx="1444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SharedStepDefs in cucumber-base call SystemContext interface — no system-specific code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867912" y="960120"/>
            <a:ext cx="1664208" cy="347472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4535424" y="112471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535424" y="11247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959352" y="158191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</a:rPr>
              <a:t>Team Implements Context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977640" y="2167128"/>
            <a:ext cx="1444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Each team provides their SystemContext: own page objects, locators, config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55564" y="960120"/>
            <a:ext cx="1664208" cy="347472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Shape 17"/>
          <p:cNvSpPr/>
          <p:nvPr/>
        </p:nvSpPr>
        <p:spPr>
          <a:xfrm>
            <a:off x="6323076" y="112471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23076" y="11247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747004" y="158191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</a:rPr>
              <a:t>Run with Tag Filter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765292" y="2167128"/>
            <a:ext cx="1444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mvn test -Dcucumber.filter.tags="@shared and @sys2" — picks shared feature, uses Sys2 pages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443216" y="960120"/>
            <a:ext cx="1664208" cy="347472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Shape 22"/>
          <p:cNvSpPr/>
          <p:nvPr/>
        </p:nvSpPr>
        <p:spPr>
          <a:xfrm>
            <a:off x="8110728" y="1124712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8110728" y="11247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534656" y="1581912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</a:rPr>
              <a:t>Override When Needed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552944" y="2167128"/>
            <a:ext cx="1444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If one step differs: extend SharedStepDefs and override that method only — no full rewrite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560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365760" y="960120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30352" y="10149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Test Framework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30352" y="12527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Cucumber 7 (BDD) + JUnit 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65760" y="1709928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30352" y="17647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UI Automation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30352" y="20025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Selenium 4  ·  Chrome, Firefox, Edge (headless OK)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459736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0352" y="251460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API Testing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30352" y="27523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REST Assured 5  ·  fluent builder pattern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3209544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30352" y="32644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Windows / COM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30352" y="3502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JACOB  ·  COM bridge, DLL pre-deployed by IT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3959352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530352" y="40142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Language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30352" y="4251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Java 11  ·  LTS, approved in government environments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960120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4828032" y="10149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Build Tool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828032" y="12527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Apache Maven 3  ·  multi-module parent POM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663440" y="1709928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828032" y="17647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Source Control / CI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4828032" y="20025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GitLab  ·  on-premise / government network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63440" y="2459736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4828032" y="251460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Reporting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828032" y="27523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ExtentReports 5  →  published to GitLab Pages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663440" y="3209544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4828032" y="32644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Test Data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828032" y="35021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Apache POI (Excel)  +  Jackson (JSON)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663440" y="3959352"/>
            <a:ext cx="4114800" cy="621792"/>
          </a:xfrm>
          <a:prstGeom prst="roundRect">
            <a:avLst>
              <a:gd name="adj" fmla="val 8824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4828032" y="40142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Artifact Registry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828032" y="4251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GitLab Package Registry  ·  built-in Maven support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560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Restricted Environments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365760" y="914400"/>
            <a:ext cx="3200400" cy="438912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02920" y="9144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No Internet on CI Runner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611880" y="1115568"/>
            <a:ext cx="25603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Shape 4"/>
          <p:cNvSpPr/>
          <p:nvPr/>
        </p:nvSpPr>
        <p:spPr>
          <a:xfrm>
            <a:off x="3913632" y="914400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F0FF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50792" y="91440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</a:rPr>
              <a:t>All deps cached in GitLab Package Registry on internal network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1499616"/>
            <a:ext cx="3200400" cy="438912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02920" y="149961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No Docker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11880" y="1700784"/>
            <a:ext cx="25603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913632" y="1499616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F0FF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050792" y="1499616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</a:rPr>
              <a:t>Shell executor — runs on bare JDK + Maven, no container needed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5760" y="2084832"/>
            <a:ext cx="3200400" cy="438912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02920" y="208483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No Admin Rights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11880" y="2286000"/>
            <a:ext cx="25603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3913632" y="2084832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F0FF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050792" y="208483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</a:rPr>
              <a:t>ChromeDriver bundled inside repo under drivers/ — no install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65760" y="2670048"/>
            <a:ext cx="3200400" cy="438912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502920" y="267004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JACOB DLL Requires Admin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11880" y="2871216"/>
            <a:ext cx="25603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3913632" y="2670048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F0FF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050792" y="267004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</a:rPr>
              <a:t>IT pre-deploys DLL once to %JAVA_HOME%\bin — loaded at runtime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3255264"/>
            <a:ext cx="3200400" cy="438912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02920" y="325526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No Nexus / Artifactory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11880" y="3456432"/>
            <a:ext cx="25603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Shape 24"/>
          <p:cNvSpPr/>
          <p:nvPr/>
        </p:nvSpPr>
        <p:spPr>
          <a:xfrm>
            <a:off x="3913632" y="3255264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F0FF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050792" y="3255264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</a:rPr>
              <a:t>GitLab built-in Maven Package Registry — zero extra infrastructure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65760" y="3840480"/>
            <a:ext cx="3200400" cy="438912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502920" y="38404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Strict Proxy / Firewall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611880" y="4041648"/>
            <a:ext cx="25603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3913632" y="3840480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F0FF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4050792" y="384048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</a:rPr>
              <a:t>~/.m2/settings.xml proxy block configured per runner machine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65760" y="4425696"/>
            <a:ext cx="3200400" cy="438912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32"/>
          <p:cNvSpPr/>
          <p:nvPr/>
        </p:nvSpPr>
        <p:spPr>
          <a:xfrm>
            <a:off x="502920" y="442569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Sensitive Data in Reports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611880" y="4626864"/>
            <a:ext cx="25603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7" name="Shape 34"/>
          <p:cNvSpPr/>
          <p:nvPr/>
        </p:nvSpPr>
        <p:spPr>
          <a:xfrm>
            <a:off x="3913632" y="4425696"/>
            <a:ext cx="4846320" cy="438912"/>
          </a:xfrm>
          <a:prstGeom prst="roundRect">
            <a:avLst>
              <a:gd name="adj" fmla="val 12500"/>
            </a:avLst>
          </a:prstGeom>
          <a:solidFill>
            <a:srgbClr val="F0FFF4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4050792" y="4425696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A34A"/>
                </a:solidFill>
              </a:rPr>
              <a:t>DataProvider.maskSensitive() strips PII before writing to logs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560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Project — What Was Built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365760" y="868680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02920" y="868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</a:rPr>
              <a:t>Full working Maven multi-module project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65760" y="1444752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30352" y="15087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shared-core / selenium-base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30352" y="17830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DriverFactory (thread-safe), BasePageObject, WaitUtils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65760" y="2322576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30352" y="23865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shared-core / api-base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30352" y="266090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RestAssuredClient (fluent), ResponseValidator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65760" y="3200400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30352" y="32644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shared-core / cucumber-base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30352" y="35387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SystemContext interface · abstract LoginSteps — reuse engine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4078224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30352" y="41422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shared-core / testdata-base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30352" y="44165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DataProvider (Excel + JSON), PropertyLoader (env-aware)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63440" y="1444752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828032" y="15087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team-a-system1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828032" y="17830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Gov Portal — implements SystemContext, own page objects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663440" y="2322576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828032" y="238658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team-b-system2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828032" y="266090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Financial Dashboard — same @shared scenarios, different wiring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3200400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28032" y="32644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shared-features/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28032" y="35387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login_common · search_common · file_upload_common — tagged @shared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663440" y="4078224"/>
            <a:ext cx="4114800" cy="749808"/>
          </a:xfrm>
          <a:prstGeom prst="roundRect">
            <a:avLst>
              <a:gd name="adj" fmla="val 8537"/>
            </a:avLst>
          </a:prstGeom>
          <a:solidFill>
            <a:srgbClr val="EEF2FF"/>
          </a:solidFill>
          <a:ln w="12700">
            <a:solidFill>
              <a:srgbClr val="CADCFC"/>
            </a:solidFill>
            <a:prstDash val="solid"/>
          </a:ln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828032" y="41422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</a:rPr>
              <a:t>.gitlab-ci.yml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828032" y="44165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Shell executor · matrix jobs · artifact collection for reports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560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Phased Rollout — Low Risk, High Value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320040" y="914400"/>
            <a:ext cx="2011680" cy="35661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320040" y="9144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320040" y="1325880"/>
            <a:ext cx="201168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32004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20040" y="128016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FFFFF"/>
                </a:solidFill>
              </a:rPr>
              <a:t>Weeks 1–3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29768" y="184708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Build shared-core v1.0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29768" y="23591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selenium-base, cucumber-base, testdata-base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29768" y="30449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Publish to GitLab Package Registry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29768" y="37307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Pilot with one team — prove the dependency works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468880" y="914400"/>
            <a:ext cx="2011680" cy="35661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2468880" y="9144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2468880" y="1325880"/>
            <a:ext cx="2011680" cy="411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246888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468880" y="128016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FFFFF"/>
                </a:solidFill>
              </a:rPr>
              <a:t>Weeks 4–5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578608" y="184708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</a:rPr>
              <a:t>Extract Shared Scenarios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578608" y="23591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Identify top 5 duplicated feature files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578608" y="30449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Move to shared-features repo tagged @shared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2578608" y="37307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Validate on System1 and System2 simultaneously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617720" y="914400"/>
            <a:ext cx="2011680" cy="35661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4617720" y="9144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Shape 21"/>
          <p:cNvSpPr/>
          <p:nvPr/>
        </p:nvSpPr>
        <p:spPr>
          <a:xfrm>
            <a:off x="4617720" y="1325880"/>
            <a:ext cx="2011680" cy="411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61772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617720" y="128016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FFFFF"/>
                </a:solidFill>
              </a:rPr>
              <a:t>Weeks 6–8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27448" y="184708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</a:rPr>
              <a:t>Full Team Onboarding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4727448" y="23591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A34A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Each team: add dependency + git submodule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727448" y="30449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A34A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Activate CI templates (one include line)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727448" y="37307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A34A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Decommission duplicated code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766560" y="914400"/>
            <a:ext cx="2011680" cy="356616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6766560" y="9144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Shape 30"/>
          <p:cNvSpPr/>
          <p:nvPr/>
        </p:nvSpPr>
        <p:spPr>
          <a:xfrm>
            <a:off x="6766560" y="1325880"/>
            <a:ext cx="201168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766560" y="9875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Phase 4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766560" y="128016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FFFFFF"/>
                </a:solidFill>
              </a:rPr>
              <a:t>Ongoing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876288" y="184708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Governance &amp; Growth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876288" y="23591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PRs to shared-core need 2+ team reviews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876288" y="30449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Version bumps via GitLab release pipeline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6876288" y="3730752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› </a:t>
            </a:r>
            <a:r>
              <a:rPr lang="en-US" sz="950" dirty="0">
                <a:solidFill>
                  <a:srgbClr val="334155"/>
                </a:solidFill>
              </a:rPr>
              <a:t>Quarterly shared-core health review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92608"/>
            <a:ext cx="347472" cy="3474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0120" y="2560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9050">
            <a:solidFill>
              <a:srgbClr val="16A34A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57200" y="98755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6A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57200" y="1664208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</a:rPr>
              <a:t>Reduction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</a:rPr>
              <a:t>Duplicate Code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91840" y="9144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9050">
            <a:solidFill>
              <a:srgbClr val="3B82F6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3291840" y="98755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Fix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3291840" y="1664208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</a:rPr>
              <a:t>Shared Bug Fix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</a:rPr>
              <a:t>Heals All Systems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26480" y="9144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905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126480" y="98755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 Days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6126480" y="1664208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</a:rPr>
              <a:t>To Onboard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</a:rPr>
              <a:t>a New System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2487168"/>
            <a:ext cx="256032" cy="25603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65760" y="24871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13232" y="246888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Consistent reporting — one Extent dashboard across all systems, one source of quality truth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65760" y="3108960"/>
            <a:ext cx="256032" cy="25603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65760" y="31089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13232" y="309067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Fewer merge conflicts — teams work in isolation, share only the governed core library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65760" y="3730752"/>
            <a:ext cx="256032" cy="25603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365760" y="37307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13232" y="3712464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Compliance-ready — all assets on internal GitLab, zero external exposure, audit-trail via git history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4352544"/>
            <a:ext cx="256032" cy="25603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365760" y="43525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713232" y="4334256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Scales linearly — adding System N requires zero changes to shared-core; just implement SystemContext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128016" y="99310"/>
            <a:ext cx="2798064" cy="5002954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37744" y="16833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>
                <a:solidFill>
                  <a:srgbClr val="3FB950"/>
                </a:solidFill>
              </a:rPr>
              <a:t>SHARED  —  team-a-system1.jar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" y="29497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dirty="0">
                <a:solidFill>
                  <a:srgbClr val="8B949E"/>
                </a:solidFill>
              </a:rPr>
              <a:t>Packed in JAR  •  available to ANY team via classpath:features/shared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054096" y="99308"/>
            <a:ext cx="2798064" cy="5002953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3163824" y="17816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>
                <a:solidFill>
                  <a:srgbClr val="58A6FF"/>
                </a:solidFill>
              </a:rPr>
              <a:t>TEAM A ONLY  —  team-a-system1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3824" y="3244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dirty="0">
                <a:solidFill>
                  <a:srgbClr val="8B949E"/>
                </a:solidFill>
              </a:rPr>
              <a:t>src/test/resources/features/  •  never exported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61888" y="99309"/>
            <a:ext cx="2816352" cy="5002952"/>
          </a:xfrm>
          <a:prstGeom prst="rect">
            <a:avLst/>
          </a:prstGeom>
          <a:solidFill>
            <a:srgbClr val="161B22"/>
          </a:solidFill>
          <a:ln w="1905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089904" y="1388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>
                <a:solidFill>
                  <a:srgbClr val="A371F7"/>
                </a:solidFill>
              </a:rPr>
              <a:t>TEAM B ONLY  —  team-b-system2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9904" y="2851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dirty="0">
                <a:solidFill>
                  <a:srgbClr val="8B949E"/>
                </a:solidFill>
              </a:rPr>
              <a:t>src/test/resources/features/  •  never exported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" y="601542"/>
            <a:ext cx="2560320" cy="658368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365760" y="638118"/>
            <a:ext cx="23042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3FB950"/>
                </a:solidFill>
              </a:rPr>
              <a:t>login_common.feature  @shared @login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820998"/>
            <a:ext cx="2304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3 scenarios: successful login, logout flow, specific creds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" y="1323918"/>
            <a:ext cx="2560320" cy="54864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365760" y="1360494"/>
            <a:ext cx="230428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3FB950"/>
                </a:solidFill>
              </a:rPr>
              <a:t>search_common.feature  @shared @search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1543374"/>
            <a:ext cx="2304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2 scenarios: search with results, search with no 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" y="1875509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3FB950"/>
                </a:solidFill>
              </a:rPr>
              <a:t>STEP DEFINITIONS  (exported in -tests.jar)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" y="2074614"/>
            <a:ext cx="2560320" cy="109728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365760" y="2129478"/>
            <a:ext cx="2304288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3FB950"/>
                </a:solidFill>
              </a:rPr>
              <a:t>SharedLoginSteps.java  (8 steps)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@Given("the user is on the login page")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@When("the user enters valid credentials")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@When("the user clicks the login button")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@Then("the user should be logged in successfully")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+ logout, welcome msg, error message steps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↳ calls PageObjectRegistry.get() — no hardcoded page objects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" y="3241211"/>
            <a:ext cx="2560320" cy="754379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365760" y="3296076"/>
            <a:ext cx="230428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3FB950"/>
                </a:solidFill>
              </a:rPr>
              <a:t>SharedSearchSteps.java  (5 steps)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@When("the user searches for {string}")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@Then("search results should be displayed")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@Then("results should contain {string}")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+ no-results check, clear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" y="4058370"/>
            <a:ext cx="2560320" cy="658368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365760" y="4113234"/>
            <a:ext cx="230428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3FB950"/>
                </a:solidFill>
              </a:rPr>
              <a:t>PageObjectRegistry.java  +  PageObjectProvider.java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ThreadLocal registry + interface contract (both exported)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63824" y="522884"/>
            <a:ext cx="2560320" cy="1170432"/>
          </a:xfrm>
          <a:prstGeom prst="rect">
            <a:avLst/>
          </a:prstGeom>
          <a:solidFill>
            <a:srgbClr val="0D111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3291840" y="577748"/>
            <a:ext cx="2304288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58A6FF"/>
                </a:solidFill>
              </a:rPr>
              <a:t>system1_specific.feature  @sys1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Tag: @sys1  (Government Portal)</a:t>
            </a:r>
          </a:p>
          <a:p>
            <a:pPr algn="l"/>
            <a:endParaRPr sz="750" b="0" dirty="0">
              <a:solidFill>
                <a:srgbClr val="8B949E"/>
              </a:solidFill>
            </a:endParaRP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Scenario: Access document repository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  When user navigates to doc repository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  Then gov forms are displayed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Scenario: Submit a government form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  When user selects form 'Tax Declaration'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  Then confirmation number is generated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63824" y="17123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58A6FF"/>
                </a:solidFill>
              </a:rPr>
              <a:t>STEP DEFINITIONS  (local — NOT exported)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63824" y="1931848"/>
            <a:ext cx="2560320" cy="864108"/>
          </a:xfrm>
          <a:prstGeom prst="rect">
            <a:avLst/>
          </a:prstGeom>
          <a:solidFill>
            <a:srgbClr val="0D111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3291840" y="1986712"/>
            <a:ext cx="23042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58A6FF"/>
                </a:solidFill>
              </a:rPr>
              <a:t>System1LoginSteps.java  (gov-portal specific)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@When("user navigates to doc repository")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@Then("doc repo shows government forms")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@When("user selects form type {string}")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@Then("confirmation number is generated")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+ form fields, email notification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3824" y="2867587"/>
            <a:ext cx="2560320" cy="749808"/>
          </a:xfrm>
          <a:prstGeom prst="rect">
            <a:avLst/>
          </a:prstGeom>
          <a:solidFill>
            <a:srgbClr val="0D111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3291840" y="2922452"/>
            <a:ext cx="23042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58A6FF"/>
                </a:solidFill>
              </a:rPr>
              <a:t>System1Setup.java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@Before(order=0):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PageObjectRegistry.set(new System1PageObjectProvider())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3824" y="3690548"/>
            <a:ext cx="256032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3291840" y="3745412"/>
            <a:ext cx="2304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58A6FF"/>
                </a:solidFill>
              </a:rPr>
              <a:t>System1PageObjectProvider.java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implements PageObjectProvider (from shared JAR)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getLoginPage()   → System1LoginPage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getSearchPage()  → System1SearchPage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getSystemName()  → 'System1 - Government Portal'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9904" y="522880"/>
            <a:ext cx="2560320" cy="1408968"/>
          </a:xfrm>
          <a:prstGeom prst="rect">
            <a:avLst/>
          </a:prstGeom>
          <a:solidFill>
            <a:srgbClr val="0D111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6" name="TextBox 35"/>
          <p:cNvSpPr txBox="1"/>
          <p:nvPr/>
        </p:nvSpPr>
        <p:spPr>
          <a:xfrm>
            <a:off x="6217920" y="577744"/>
            <a:ext cx="230428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A371F7"/>
                </a:solidFill>
              </a:rPr>
              <a:t>system2_specific.feature  @sys2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Tag: @sys2  (Financial Dashboard)</a:t>
            </a:r>
          </a:p>
          <a:p>
            <a:pPr algn="l"/>
            <a:endParaRPr sz="750" b="0" dirty="0">
              <a:solidFill>
                <a:srgbClr val="8B949E"/>
              </a:solidFill>
            </a:endParaRPr>
          </a:p>
          <a:p>
            <a:pPr algn="l"/>
            <a:r>
              <a:rPr sz="750" b="1" dirty="0">
                <a:solidFill>
                  <a:srgbClr val="3FB950"/>
                </a:solidFill>
              </a:rPr>
              <a:t>  Background:  (reuses @shared login steps!)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  Given the user is on the login page  ←shared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  When the user enters valid credentials  ←shared</a:t>
            </a:r>
          </a:p>
          <a:p>
            <a:pPr algn="l"/>
            <a:r>
              <a:rPr sz="700" b="0" dirty="0">
                <a:solidFill>
                  <a:srgbClr val="8B949E"/>
                </a:solidFill>
              </a:rPr>
              <a:t>    Then the user should be logged in  ←shared</a:t>
            </a:r>
          </a:p>
          <a:p>
            <a:pPr algn="l"/>
            <a:endParaRPr sz="700" b="0" dirty="0">
              <a:solidFill>
                <a:srgbClr val="8B949E"/>
              </a:solidFill>
            </a:endParaRP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Scenario: View portfolio summary dashboard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Scenario: Generate quarterly financial report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Scenario: Generate annual financial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9904" y="201502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A371F7"/>
                </a:solidFill>
              </a:rPr>
              <a:t>STEP DEFINITIONS  (local — NOT exported)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9904" y="2244316"/>
            <a:ext cx="2560320" cy="911164"/>
          </a:xfrm>
          <a:prstGeom prst="rect">
            <a:avLst/>
          </a:prstGeom>
          <a:solidFill>
            <a:srgbClr val="0D111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9" name="TextBox 38"/>
          <p:cNvSpPr txBox="1"/>
          <p:nvPr/>
        </p:nvSpPr>
        <p:spPr>
          <a:xfrm>
            <a:off x="6217920" y="2299180"/>
            <a:ext cx="230428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A371F7"/>
                </a:solidFill>
              </a:rPr>
              <a:t>System2LoginSteps.java  (financial specific)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@When("user navigates to portfolio dashboard")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@When("user selects report type {string}")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@When("user generates the report")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@Then("portfolio summary should be displayed")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@Then("report should be generated successfully")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9904" y="3220558"/>
            <a:ext cx="2560320" cy="749808"/>
          </a:xfrm>
          <a:prstGeom prst="rect">
            <a:avLst/>
          </a:prstGeom>
          <a:solidFill>
            <a:srgbClr val="0D111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1" name="TextBox 40"/>
          <p:cNvSpPr txBox="1"/>
          <p:nvPr/>
        </p:nvSpPr>
        <p:spPr>
          <a:xfrm>
            <a:off x="6217920" y="3275422"/>
            <a:ext cx="23042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A371F7"/>
                </a:solidFill>
              </a:rPr>
              <a:t>System2Setup.java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@Before(order=0):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  PageObjectRegistry.set(new System2PageObjectProvider())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9904" y="4092678"/>
            <a:ext cx="2560320" cy="749808"/>
          </a:xfrm>
          <a:prstGeom prst="rect">
            <a:avLst/>
          </a:prstGeom>
          <a:solidFill>
            <a:srgbClr val="0D111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3" name="TextBox 42"/>
          <p:cNvSpPr txBox="1"/>
          <p:nvPr/>
        </p:nvSpPr>
        <p:spPr>
          <a:xfrm>
            <a:off x="6217920" y="4147542"/>
            <a:ext cx="230428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A371F7"/>
                </a:solidFill>
              </a:rPr>
              <a:t>System2PageObjectProvider.java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getLoginPage()   → System2LoginPage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getSearchPage()  → System2SearchPage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getSystemName()  → 'System2 - Financial Dashboard'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108155" y="69809"/>
            <a:ext cx="3000805" cy="4937563"/>
          </a:xfrm>
          <a:prstGeom prst="rect">
            <a:avLst/>
          </a:prstGeom>
          <a:solidFill>
            <a:srgbClr val="161B22"/>
          </a:solidFill>
          <a:ln w="1905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37744" y="197825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A371F7"/>
                </a:solidFill>
              </a:rPr>
              <a:t>1  team-b/pom.xml  —  Import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" y="389849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8B949E"/>
                </a:solidFill>
              </a:rPr>
              <a:t>team-b declares a Maven dependency on team-a's test-JAR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" y="655025"/>
            <a:ext cx="2743200" cy="13716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728177"/>
            <a:ext cx="24871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&lt;dependency&gt;</a:t>
            </a:r>
          </a:p>
          <a:p>
            <a:pPr algn="l"/>
            <a:r>
              <a:rPr sz="750" b="0" dirty="0">
                <a:solidFill>
                  <a:srgbClr val="3FB950"/>
                </a:solidFill>
              </a:rPr>
              <a:t>  &lt;groupId&gt;com.sharedframework&lt;/groupId&gt;</a:t>
            </a:r>
          </a:p>
          <a:p>
            <a:pPr algn="l"/>
            <a:r>
              <a:rPr sz="750" b="0" dirty="0">
                <a:solidFill>
                  <a:srgbClr val="3FB950"/>
                </a:solidFill>
              </a:rPr>
              <a:t>  &lt;artifactId&gt;team-a-system1&lt;/artifactId&gt;</a:t>
            </a:r>
          </a:p>
          <a:p>
            <a:pPr algn="l"/>
            <a:r>
              <a:rPr sz="750" b="0" dirty="0">
                <a:solidFill>
                  <a:srgbClr val="3FB950"/>
                </a:solidFill>
              </a:rPr>
              <a:t>  &lt;version&gt;1.0.0-SNAPSHOT&lt;/version&gt;</a:t>
            </a:r>
          </a:p>
          <a:p>
            <a:pPr algn="l"/>
            <a:r>
              <a:rPr sz="750" b="1" dirty="0">
                <a:solidFill>
                  <a:srgbClr val="E3B341"/>
                </a:solidFill>
              </a:rPr>
              <a:t>  &lt;classifier&gt;tests&lt;/classifier&gt;  ← KEY</a:t>
            </a:r>
          </a:p>
          <a:p>
            <a:pPr algn="l"/>
            <a:r>
              <a:rPr sz="750" b="0" dirty="0">
                <a:solidFill>
                  <a:srgbClr val="3FB950"/>
                </a:solidFill>
              </a:rPr>
              <a:t>  &lt;scope&gt;test&lt;/scope&gt;</a:t>
            </a:r>
          </a:p>
          <a:p>
            <a:pPr algn="l"/>
            <a:r>
              <a:rPr sz="750" b="0" dirty="0">
                <a:solidFill>
                  <a:srgbClr val="3FB950"/>
                </a:solidFill>
              </a:rPr>
              <a:t>&lt;/dependency&gt;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" y="209977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8B949E"/>
                </a:solidFill>
              </a:rPr>
              <a:t>What Maven downloads: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" y="2310089"/>
            <a:ext cx="2743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dirty="0">
                <a:solidFill>
                  <a:srgbClr val="3FB950"/>
                </a:solidFill>
              </a:rPr>
              <a:t>team-a-system1.jar  (main)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→ features/shared/login_common.feature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→ features/shared/search_common.feature</a:t>
            </a:r>
          </a:p>
          <a:p>
            <a:pPr algn="l"/>
            <a:r>
              <a:rPr sz="800" b="1" dirty="0">
                <a:solidFill>
                  <a:srgbClr val="3FB950"/>
                </a:solidFill>
              </a:rPr>
              <a:t>team-a-system1-tests.jar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→ SharedLoginSteps.class  (8 login steps)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→ SharedSearchSteps.class  (5 search steps)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→ PageObjectRegistry.class</a:t>
            </a:r>
          </a:p>
          <a:p>
            <a:pPr algn="l"/>
            <a:r>
              <a:rPr sz="750" b="0" dirty="0">
                <a:solidFill>
                  <a:srgbClr val="8B949E"/>
                </a:solidFill>
              </a:rPr>
              <a:t>  → PageObjectProvider.class  (interface)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" y="3337465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A371F7"/>
                </a:solidFill>
              </a:rPr>
              <a:t>2  System2TestRunner  —  glue config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3" y="3593497"/>
            <a:ext cx="2743201" cy="1273471"/>
          </a:xfrm>
          <a:prstGeom prst="rect">
            <a:avLst/>
          </a:prstGeom>
          <a:solidFill>
            <a:srgbClr val="0D111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365760" y="3666649"/>
            <a:ext cx="248716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A371F7"/>
                </a:solidFill>
              </a:rPr>
              <a:t>features = {</a:t>
            </a:r>
          </a:p>
          <a:p>
            <a:pPr algn="l"/>
            <a:r>
              <a:rPr sz="750" b="0" dirty="0">
                <a:solidFill>
                  <a:srgbClr val="A371F7"/>
                </a:solidFill>
              </a:rPr>
              <a:t>  "src/test/resources/features",</a:t>
            </a:r>
          </a:p>
          <a:p>
            <a:pPr algn="l"/>
            <a:r>
              <a:rPr sz="750" b="1" dirty="0">
                <a:solidFill>
                  <a:srgbClr val="E3B341"/>
                </a:solidFill>
              </a:rPr>
              <a:t>  "classpath:features/shared"  ← from JAR</a:t>
            </a:r>
          </a:p>
          <a:p>
            <a:pPr algn="l"/>
            <a:r>
              <a:rPr sz="750" b="0" dirty="0">
                <a:solidFill>
                  <a:srgbClr val="A371F7"/>
                </a:solidFill>
              </a:rPr>
              <a:t>}</a:t>
            </a:r>
          </a:p>
          <a:p>
            <a:pPr algn="l"/>
            <a:r>
              <a:rPr sz="750" b="0" dirty="0">
                <a:solidFill>
                  <a:srgbClr val="A371F7"/>
                </a:solidFill>
              </a:rPr>
              <a:t>glue = {</a:t>
            </a:r>
          </a:p>
          <a:p>
            <a:pPr algn="l"/>
            <a:r>
              <a:rPr sz="750" b="1" dirty="0">
                <a:solidFill>
                  <a:srgbClr val="3FB950"/>
                </a:solidFill>
              </a:rPr>
              <a:t>  "com.teama.steps.base",  ← JAR steps</a:t>
            </a:r>
          </a:p>
          <a:p>
            <a:pPr algn="l"/>
            <a:r>
              <a:rPr sz="750" b="0" dirty="0">
                <a:solidFill>
                  <a:srgbClr val="A371F7"/>
                </a:solidFill>
              </a:rPr>
              <a:t>  "com.teamb.steps"        ← local</a:t>
            </a:r>
          </a:p>
          <a:p>
            <a:pPr algn="l"/>
            <a:r>
              <a:rPr sz="750" b="0" dirty="0">
                <a:solidFill>
                  <a:srgbClr val="A371F7"/>
                </a:solidFill>
              </a:rPr>
              <a:t>}</a:t>
            </a:r>
          </a:p>
          <a:p>
            <a:pPr algn="l"/>
            <a:r>
              <a:rPr sz="750" b="0" dirty="0">
                <a:solidFill>
                  <a:srgbClr val="E3B341"/>
                </a:solidFill>
              </a:rPr>
              <a:t>tags = "@sys2 or @shared"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25312" y="1527048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Rectangle 23"/>
          <p:cNvSpPr/>
          <p:nvPr/>
        </p:nvSpPr>
        <p:spPr>
          <a:xfrm>
            <a:off x="5925312" y="2148840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Rectangle 28"/>
          <p:cNvSpPr/>
          <p:nvPr/>
        </p:nvSpPr>
        <p:spPr>
          <a:xfrm>
            <a:off x="5925312" y="2770632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Rectangle 33"/>
          <p:cNvSpPr/>
          <p:nvPr/>
        </p:nvSpPr>
        <p:spPr>
          <a:xfrm>
            <a:off x="5925312" y="3392424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9" name="Rectangle 38"/>
          <p:cNvSpPr/>
          <p:nvPr/>
        </p:nvSpPr>
        <p:spPr>
          <a:xfrm>
            <a:off x="5925312" y="4014216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4" name="Rectangle 43"/>
          <p:cNvSpPr/>
          <p:nvPr/>
        </p:nvSpPr>
        <p:spPr>
          <a:xfrm>
            <a:off x="5925312" y="4636008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" name="Rectangle 48"/>
          <p:cNvSpPr/>
          <p:nvPr/>
        </p:nvSpPr>
        <p:spPr>
          <a:xfrm>
            <a:off x="5925312" y="5257800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4" name="Rectangle 53"/>
          <p:cNvSpPr/>
          <p:nvPr/>
        </p:nvSpPr>
        <p:spPr>
          <a:xfrm>
            <a:off x="5925312" y="5879592"/>
            <a:ext cx="164592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22F8AD8-9F48-8CF0-76B2-55DD07F83E1B}"/>
              </a:ext>
            </a:extLst>
          </p:cNvPr>
          <p:cNvGrpSpPr/>
          <p:nvPr/>
        </p:nvGrpSpPr>
        <p:grpSpPr>
          <a:xfrm>
            <a:off x="3273552" y="978"/>
            <a:ext cx="5632704" cy="5006394"/>
            <a:chOff x="3273552" y="978"/>
            <a:chExt cx="5687568" cy="5852160"/>
          </a:xfrm>
        </p:grpSpPr>
        <p:sp>
          <p:nvSpPr>
            <p:cNvPr id="14" name="TextBox 13"/>
            <p:cNvSpPr txBox="1"/>
            <p:nvPr/>
          </p:nvSpPr>
          <p:spPr>
            <a:xfrm>
              <a:off x="3273552" y="978"/>
              <a:ext cx="5687568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50" b="0" dirty="0">
                  <a:solidFill>
                    <a:srgbClr val="8B949E"/>
                  </a:solidFill>
                </a:rPr>
                <a:t>STEP-BY-STEP: what happens when login_common.feature runs on team-b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273552" y="311874"/>
              <a:ext cx="5687568" cy="566928"/>
            </a:xfrm>
            <a:prstGeom prst="rect">
              <a:avLst/>
            </a:prstGeom>
            <a:solidFill>
              <a:srgbClr val="0D1117"/>
            </a:solidFill>
            <a:ln w="12700">
              <a:solidFill>
                <a:srgbClr val="A371F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3337560" y="421602"/>
              <a:ext cx="329184" cy="329184"/>
            </a:xfrm>
            <a:prstGeom prst="ellipse">
              <a:avLst/>
            </a:prstGeom>
            <a:solidFill>
              <a:srgbClr val="A371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739896" y="366738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A371F7"/>
                  </a:solidFill>
                </a:rPr>
                <a:t>mvn test -pl team-b-system2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739896" y="586194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Developer triggers Maven build for team-b project only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273552" y="933666"/>
              <a:ext cx="5687568" cy="566928"/>
            </a:xfrm>
            <a:prstGeom prst="rect">
              <a:avLst/>
            </a:prstGeom>
            <a:solidFill>
              <a:srgbClr val="161B22"/>
            </a:solidFill>
            <a:ln w="12700">
              <a:solidFill>
                <a:srgbClr val="A371F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1" name="Oval 20"/>
            <p:cNvSpPr/>
            <p:nvPr/>
          </p:nvSpPr>
          <p:spPr>
            <a:xfrm>
              <a:off x="3337560" y="1043394"/>
              <a:ext cx="329184" cy="329184"/>
            </a:xfrm>
            <a:prstGeom prst="ellipse">
              <a:avLst/>
            </a:prstGeom>
            <a:solidFill>
              <a:srgbClr val="A371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739896" y="988530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A371F7"/>
                  </a:solidFill>
                </a:rPr>
                <a:t>System2TestRunner starts Cucumber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739896" y="1207986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Cucumber reads @CucumberOptions to discover features and glue packages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273552" y="1555458"/>
              <a:ext cx="5687568" cy="566928"/>
            </a:xfrm>
            <a:prstGeom prst="rect">
              <a:avLst/>
            </a:prstGeom>
            <a:solidFill>
              <a:srgbClr val="0D1117"/>
            </a:solidFill>
            <a:ln w="12700">
              <a:solidFill>
                <a:srgbClr val="3FB9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6" name="Oval 25"/>
            <p:cNvSpPr/>
            <p:nvPr/>
          </p:nvSpPr>
          <p:spPr>
            <a:xfrm>
              <a:off x="3337560" y="1665186"/>
              <a:ext cx="329184" cy="329184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739896" y="1610322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3FB950"/>
                  </a:solidFill>
                </a:rPr>
                <a:t>Cucumber scans glue — finds steps from BOTH classpath sources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739896" y="1829778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com.teama.steps.base → SharedLoginSteps (JAR)   com.teamb.steps → System2Setup (local)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73552" y="2177250"/>
              <a:ext cx="5687568" cy="566928"/>
            </a:xfrm>
            <a:prstGeom prst="rect">
              <a:avLst/>
            </a:prstGeom>
            <a:solidFill>
              <a:srgbClr val="161B22"/>
            </a:solidFill>
            <a:ln w="12700">
              <a:solidFill>
                <a:srgbClr val="3FB9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31" name="Oval 30"/>
            <p:cNvSpPr/>
            <p:nvPr/>
          </p:nvSpPr>
          <p:spPr>
            <a:xfrm>
              <a:off x="3337560" y="2286978"/>
              <a:ext cx="329184" cy="329184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739896" y="2232114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3FB950"/>
                  </a:solidFill>
                </a:rPr>
                <a:t>Cucumber loads feature files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739896" y="2451570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system2_specific.feature (local disk)   +   login_common.feature (from classpath JAR)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273552" y="2799042"/>
              <a:ext cx="5687568" cy="566928"/>
            </a:xfrm>
            <a:prstGeom prst="rect">
              <a:avLst/>
            </a:prstGeom>
            <a:solidFill>
              <a:srgbClr val="0D1117"/>
            </a:solidFill>
            <a:ln w="12700">
              <a:solidFill>
                <a:srgbClr val="A371F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36" name="Oval 35"/>
            <p:cNvSpPr/>
            <p:nvPr/>
          </p:nvSpPr>
          <p:spPr>
            <a:xfrm>
              <a:off x="3337560" y="2908770"/>
              <a:ext cx="329184" cy="329184"/>
            </a:xfrm>
            <a:prstGeom prst="ellipse">
              <a:avLst/>
            </a:prstGeom>
            <a:solidFill>
              <a:srgbClr val="A371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739896" y="2853906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A371F7"/>
                  </a:solidFill>
                </a:rPr>
                <a:t>@Before(order=0) fires — System2Setup.registerSystem2Provider()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739896" y="3073362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PageObjectRegistry.set(new System2PageObjectProvider())  — ThreadLocal populated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73552" y="3420834"/>
              <a:ext cx="5687568" cy="566928"/>
            </a:xfrm>
            <a:prstGeom prst="rect">
              <a:avLst/>
            </a:prstGeom>
            <a:solidFill>
              <a:srgbClr val="161B22"/>
            </a:solidFill>
            <a:ln w="12700">
              <a:solidFill>
                <a:srgbClr val="3FB9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1" name="Oval 40"/>
            <p:cNvSpPr/>
            <p:nvPr/>
          </p:nvSpPr>
          <p:spPr>
            <a:xfrm>
              <a:off x="3337560" y="3530562"/>
              <a:ext cx="329184" cy="329184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6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739896" y="3475698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3FB950"/>
                  </a:solidFill>
                </a:rPr>
                <a:t>Step: "Given the user is on the login page" matched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739896" y="3695154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Cucumber routes to SharedLoginSteps.theUserIsOnTheLoginPage()  (from team-a JAR!)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273552" y="4042626"/>
              <a:ext cx="5687568" cy="566928"/>
            </a:xfrm>
            <a:prstGeom prst="rect">
              <a:avLst/>
            </a:prstGeom>
            <a:solidFill>
              <a:srgbClr val="0D1117"/>
            </a:solidFill>
            <a:ln w="12700">
              <a:solidFill>
                <a:srgbClr val="E3B34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6" name="Oval 45"/>
            <p:cNvSpPr/>
            <p:nvPr/>
          </p:nvSpPr>
          <p:spPr>
            <a:xfrm>
              <a:off x="3337560" y="4152354"/>
              <a:ext cx="329184" cy="329184"/>
            </a:xfrm>
            <a:prstGeom prst="ellipse">
              <a:avLst/>
            </a:prstGeom>
            <a:solidFill>
              <a:srgbClr val="E3B3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3739896" y="4097490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E3B341"/>
                  </a:solidFill>
                </a:rPr>
                <a:t>SharedLoginSteps calls PageObjectRegistry.get()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3739896" y="4316946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ThreadLocal returns System2PageObjectProvider → .getLoginPage() → System2LoginPage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273552" y="4664418"/>
              <a:ext cx="5687568" cy="566928"/>
            </a:xfrm>
            <a:prstGeom prst="rect">
              <a:avLst/>
            </a:prstGeom>
            <a:solidFill>
              <a:srgbClr val="161B22"/>
            </a:solidFill>
            <a:ln w="12700">
              <a:solidFill>
                <a:srgbClr val="A371F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51" name="Oval 50"/>
            <p:cNvSpPr/>
            <p:nvPr/>
          </p:nvSpPr>
          <p:spPr>
            <a:xfrm>
              <a:off x="3337560" y="4774146"/>
              <a:ext cx="329184" cy="329184"/>
            </a:xfrm>
            <a:prstGeom prst="ellipse">
              <a:avLst/>
            </a:prstGeom>
            <a:solidFill>
              <a:srgbClr val="A371F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8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3739896" y="4719282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A371F7"/>
                  </a:solidFill>
                </a:rPr>
                <a:t>System2LoginPage.navigateTo() executes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739896" y="4938738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Team-b's page object runs. Shared step code, team-b's implementation. PASS ✓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3273552" y="5286210"/>
              <a:ext cx="5687568" cy="566928"/>
            </a:xfrm>
            <a:prstGeom prst="rect">
              <a:avLst/>
            </a:prstGeom>
            <a:solidFill>
              <a:srgbClr val="0D1117"/>
            </a:solidFill>
            <a:ln w="12700">
              <a:solidFill>
                <a:srgbClr val="8B949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56" name="Oval 55"/>
            <p:cNvSpPr/>
            <p:nvPr/>
          </p:nvSpPr>
          <p:spPr>
            <a:xfrm>
              <a:off x="3337560" y="5395938"/>
              <a:ext cx="329184" cy="329184"/>
            </a:xfrm>
            <a:prstGeom prst="ellipse">
              <a:avLst/>
            </a:prstGeom>
            <a:solidFill>
              <a:srgbClr val="8B949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900" b="1" dirty="0">
                  <a:solidFill>
                    <a:srgbClr val="FFFFFF"/>
                  </a:solidFill>
                </a:rPr>
                <a:t>9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739896" y="5341074"/>
              <a:ext cx="5166361" cy="2011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50" b="1" dirty="0">
                  <a:solidFill>
                    <a:srgbClr val="8B949E"/>
                  </a:solidFill>
                </a:rPr>
                <a:t>@After(order=9999) — PageObjectRegistry.clear()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3739896" y="5560530"/>
              <a:ext cx="5166361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0" dirty="0">
                  <a:solidFill>
                    <a:srgbClr val="8B949E"/>
                  </a:solidFill>
                </a:rPr>
                <a:t>ThreadLocal cleaned up — no state leaks between scenarios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109728" y="158300"/>
            <a:ext cx="1682496" cy="877824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09728" y="176588"/>
            <a:ext cx="168249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dirty="0">
                <a:solidFill>
                  <a:srgbClr val="3FB95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" y="652076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dirty="0">
                <a:solidFill>
                  <a:srgbClr val="8B949E"/>
                </a:solidFill>
              </a:rPr>
              <a:t>SHARED FEATURE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" y="853244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dirty="0">
                <a:solidFill>
                  <a:srgbClr val="8B949E"/>
                </a:solidFill>
              </a:rPr>
              <a:t>login + 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1865376" y="158300"/>
            <a:ext cx="1682496" cy="877824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865376" y="176588"/>
            <a:ext cx="168249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dirty="0">
                <a:solidFill>
                  <a:srgbClr val="3FB950"/>
                </a:solidFill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652076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dirty="0">
                <a:solidFill>
                  <a:srgbClr val="8B949E"/>
                </a:solidFill>
              </a:rPr>
              <a:t>SHARED STEP DEFINITIONS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853244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dirty="0">
                <a:solidFill>
                  <a:srgbClr val="8B949E"/>
                </a:solidFill>
              </a:rPr>
              <a:t>8 login + 5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21024" y="158300"/>
            <a:ext cx="1682496" cy="877824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3621024" y="176588"/>
            <a:ext cx="168249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dirty="0">
                <a:solidFill>
                  <a:srgbClr val="58A6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652076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dirty="0">
                <a:solidFill>
                  <a:srgbClr val="8B949E"/>
                </a:solidFill>
              </a:rPr>
              <a:t>TEAM A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853244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dirty="0">
                <a:solidFill>
                  <a:srgbClr val="8B949E"/>
                </a:solidFill>
              </a:rPr>
              <a:t>2 sys1 + 3 shared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76672" y="158300"/>
            <a:ext cx="1682496" cy="877824"/>
          </a:xfrm>
          <a:prstGeom prst="rect">
            <a:avLst/>
          </a:prstGeom>
          <a:solidFill>
            <a:srgbClr val="161B22"/>
          </a:solidFill>
          <a:ln w="1905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5376672" y="176588"/>
            <a:ext cx="168249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dirty="0">
                <a:solidFill>
                  <a:srgbClr val="A371F7"/>
                </a:solidFill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652076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dirty="0">
                <a:solidFill>
                  <a:srgbClr val="8B949E"/>
                </a:solidFill>
              </a:rPr>
              <a:t>TEAM B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853244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dirty="0">
                <a:solidFill>
                  <a:srgbClr val="8B949E"/>
                </a:solidFill>
              </a:rPr>
              <a:t>3 sys2 + 5 shared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158300"/>
            <a:ext cx="1682496" cy="877824"/>
          </a:xfrm>
          <a:prstGeom prst="rect">
            <a:avLst/>
          </a:prstGeom>
          <a:solidFill>
            <a:srgbClr val="161B22"/>
          </a:solidFill>
          <a:ln w="1905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7132320" y="176588"/>
            <a:ext cx="168249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dirty="0">
                <a:solidFill>
                  <a:srgbClr val="E3B341"/>
                </a:solidFill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336" y="652076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dirty="0">
                <a:solidFill>
                  <a:srgbClr val="8B949E"/>
                </a:solidFill>
              </a:rPr>
              <a:t>CODE COPIED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0336" y="853244"/>
            <a:ext cx="14264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 dirty="0">
                <a:solidFill>
                  <a:srgbClr val="8B949E"/>
                </a:solidFill>
              </a:rPr>
              <a:t>zero duplication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1101214"/>
            <a:ext cx="2331720" cy="457200"/>
          </a:xfrm>
          <a:prstGeom prst="rect">
            <a:avLst/>
          </a:prstGeom>
          <a:solidFill>
            <a:srgbClr val="1F293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356616" y="1156078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dirty="0">
                <a:solidFill>
                  <a:srgbClr val="8B949E"/>
                </a:solidFill>
              </a:rPr>
              <a:t>Feature File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24328" y="1101214"/>
            <a:ext cx="1463040" cy="457200"/>
          </a:xfrm>
          <a:prstGeom prst="rect">
            <a:avLst/>
          </a:prstGeom>
          <a:solidFill>
            <a:srgbClr val="1F293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7" name="TextBox 26"/>
          <p:cNvSpPr txBox="1"/>
          <p:nvPr/>
        </p:nvSpPr>
        <p:spPr>
          <a:xfrm>
            <a:off x="2688336" y="115607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dirty="0">
                <a:solidFill>
                  <a:srgbClr val="8B949E"/>
                </a:solidFill>
              </a:rPr>
              <a:t>Step Definition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87368" y="1101214"/>
            <a:ext cx="1417320" cy="457200"/>
          </a:xfrm>
          <a:prstGeom prst="rect">
            <a:avLst/>
          </a:prstGeom>
          <a:solidFill>
            <a:srgbClr val="1F293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4151376" y="115607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dirty="0">
                <a:solidFill>
                  <a:srgbClr val="8B949E"/>
                </a:solidFill>
              </a:rPr>
              <a:t>Lives 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04688" y="1101214"/>
            <a:ext cx="1170432" cy="457200"/>
          </a:xfrm>
          <a:prstGeom prst="rect">
            <a:avLst/>
          </a:prstGeom>
          <a:solidFill>
            <a:srgbClr val="1F293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5568696" y="11560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dirty="0">
                <a:solidFill>
                  <a:srgbClr val="8B949E"/>
                </a:solidFill>
              </a:rPr>
              <a:t>Team A
(System1)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1101214"/>
            <a:ext cx="1170432" cy="457200"/>
          </a:xfrm>
          <a:prstGeom prst="rect">
            <a:avLst/>
          </a:prstGeom>
          <a:solidFill>
            <a:srgbClr val="1F293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3" name="TextBox 32"/>
          <p:cNvSpPr txBox="1"/>
          <p:nvPr/>
        </p:nvSpPr>
        <p:spPr>
          <a:xfrm>
            <a:off x="6739128" y="11560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dirty="0">
                <a:solidFill>
                  <a:srgbClr val="8B949E"/>
                </a:solidFill>
              </a:rPr>
              <a:t>Team B
(System2)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45552" y="1101214"/>
            <a:ext cx="1005840" cy="457200"/>
          </a:xfrm>
          <a:prstGeom prst="rect">
            <a:avLst/>
          </a:prstGeom>
          <a:solidFill>
            <a:srgbClr val="1F293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5" name="TextBox 34"/>
          <p:cNvSpPr txBox="1"/>
          <p:nvPr/>
        </p:nvSpPr>
        <p:spPr>
          <a:xfrm>
            <a:off x="7909560" y="115607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dirty="0">
                <a:solidFill>
                  <a:srgbClr val="8B949E"/>
                </a:solidFill>
              </a:rPr>
              <a:t>Scenarios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" y="1558414"/>
            <a:ext cx="233172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" name="TextBox 36"/>
          <p:cNvSpPr txBox="1"/>
          <p:nvPr/>
        </p:nvSpPr>
        <p:spPr>
          <a:xfrm>
            <a:off x="356616" y="1613278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login_common.feature
@shared @login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24328" y="1558414"/>
            <a:ext cx="146304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9" name="TextBox 38"/>
          <p:cNvSpPr txBox="1"/>
          <p:nvPr/>
        </p:nvSpPr>
        <p:spPr>
          <a:xfrm>
            <a:off x="2688336" y="161327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SharedLoginSteps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87368" y="1558414"/>
            <a:ext cx="141732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1" name="TextBox 40"/>
          <p:cNvSpPr txBox="1"/>
          <p:nvPr/>
        </p:nvSpPr>
        <p:spPr>
          <a:xfrm>
            <a:off x="4151376" y="161327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team-a JAR
(exported)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04688" y="1558414"/>
            <a:ext cx="1170432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3" name="TextBox 42"/>
          <p:cNvSpPr txBox="1"/>
          <p:nvPr/>
        </p:nvSpPr>
        <p:spPr>
          <a:xfrm>
            <a:off x="5568696" y="16132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58A6FF"/>
                </a:solidFill>
              </a:rPr>
              <a:t>✓ System1
LoginPage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1558414"/>
            <a:ext cx="1170432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5" name="TextBox 44"/>
          <p:cNvSpPr txBox="1"/>
          <p:nvPr/>
        </p:nvSpPr>
        <p:spPr>
          <a:xfrm>
            <a:off x="6739128" y="16132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A371F7"/>
                </a:solidFill>
              </a:rPr>
              <a:t>✓ System2
LoginPage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45552" y="1558414"/>
            <a:ext cx="100584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7" name="TextBox 46"/>
          <p:cNvSpPr txBox="1"/>
          <p:nvPr/>
        </p:nvSpPr>
        <p:spPr>
          <a:xfrm>
            <a:off x="7909560" y="161327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E3B341"/>
                </a:solidFill>
              </a:rPr>
              <a:t>3 each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" y="2015614"/>
            <a:ext cx="233172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" name="TextBox 48"/>
          <p:cNvSpPr txBox="1"/>
          <p:nvPr/>
        </p:nvSpPr>
        <p:spPr>
          <a:xfrm>
            <a:off x="356616" y="2070478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search_common.feature
@shared @search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24328" y="2015614"/>
            <a:ext cx="146304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1" name="TextBox 50"/>
          <p:cNvSpPr txBox="1"/>
          <p:nvPr/>
        </p:nvSpPr>
        <p:spPr>
          <a:xfrm>
            <a:off x="2688336" y="207047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SharedSearchSteps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87368" y="2015614"/>
            <a:ext cx="141732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3" name="TextBox 52"/>
          <p:cNvSpPr txBox="1"/>
          <p:nvPr/>
        </p:nvSpPr>
        <p:spPr>
          <a:xfrm>
            <a:off x="4151376" y="207047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team-a JAR
(exported)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04688" y="2015614"/>
            <a:ext cx="1170432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5" name="TextBox 54"/>
          <p:cNvSpPr txBox="1"/>
          <p:nvPr/>
        </p:nvSpPr>
        <p:spPr>
          <a:xfrm>
            <a:off x="5568696" y="20704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58A6FF"/>
                </a:solidFill>
              </a:rPr>
              <a:t>✓ System1
SearchPage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75120" y="2015614"/>
            <a:ext cx="1170432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7" name="TextBox 56"/>
          <p:cNvSpPr txBox="1"/>
          <p:nvPr/>
        </p:nvSpPr>
        <p:spPr>
          <a:xfrm>
            <a:off x="6739128" y="20704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A371F7"/>
                </a:solidFill>
              </a:rPr>
              <a:t>✓ System2
SearchPage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45552" y="2015614"/>
            <a:ext cx="100584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9" name="TextBox 58"/>
          <p:cNvSpPr txBox="1"/>
          <p:nvPr/>
        </p:nvSpPr>
        <p:spPr>
          <a:xfrm>
            <a:off x="7909560" y="207047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E3B341"/>
                </a:solidFill>
              </a:rPr>
              <a:t>2 each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2608" y="2472814"/>
            <a:ext cx="233172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1" name="TextBox 60"/>
          <p:cNvSpPr txBox="1"/>
          <p:nvPr/>
        </p:nvSpPr>
        <p:spPr>
          <a:xfrm>
            <a:off x="356616" y="2527678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system1_specific.feature
@sys1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24328" y="2472814"/>
            <a:ext cx="146304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3" name="TextBox 62"/>
          <p:cNvSpPr txBox="1"/>
          <p:nvPr/>
        </p:nvSpPr>
        <p:spPr>
          <a:xfrm>
            <a:off x="2688336" y="252767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System1LoginSteps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87368" y="2472814"/>
            <a:ext cx="141732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4151376" y="252767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team-a local
(not exported)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04688" y="2472814"/>
            <a:ext cx="1170432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7" name="TextBox 66"/>
          <p:cNvSpPr txBox="1"/>
          <p:nvPr/>
        </p:nvSpPr>
        <p:spPr>
          <a:xfrm>
            <a:off x="5568696" y="25276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58A6FF"/>
                </a:solidFill>
              </a:rPr>
              <a:t>✓ Gov
Portal steps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75120" y="2472814"/>
            <a:ext cx="1170432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9" name="TextBox 68"/>
          <p:cNvSpPr txBox="1"/>
          <p:nvPr/>
        </p:nvSpPr>
        <p:spPr>
          <a:xfrm>
            <a:off x="6739128" y="25276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E3B341"/>
                </a:solidFill>
              </a:rPr>
              <a:t>✗  not
available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45552" y="2472814"/>
            <a:ext cx="100584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1" name="TextBox 70"/>
          <p:cNvSpPr txBox="1"/>
          <p:nvPr/>
        </p:nvSpPr>
        <p:spPr>
          <a:xfrm>
            <a:off x="7909560" y="252767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E3B341"/>
                </a:solidFill>
              </a:rPr>
              <a:t>2 (A only)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2608" y="2930014"/>
            <a:ext cx="233172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3" name="TextBox 72"/>
          <p:cNvSpPr txBox="1"/>
          <p:nvPr/>
        </p:nvSpPr>
        <p:spPr>
          <a:xfrm>
            <a:off x="356616" y="2984878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system2_specific.feature
@sys2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624328" y="2930014"/>
            <a:ext cx="146304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5" name="TextBox 74"/>
          <p:cNvSpPr txBox="1"/>
          <p:nvPr/>
        </p:nvSpPr>
        <p:spPr>
          <a:xfrm>
            <a:off x="2688336" y="298487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System2LoginSteps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87368" y="2930014"/>
            <a:ext cx="141732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7" name="TextBox 76"/>
          <p:cNvSpPr txBox="1"/>
          <p:nvPr/>
        </p:nvSpPr>
        <p:spPr>
          <a:xfrm>
            <a:off x="4151376" y="298487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team-b local
(not exported)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04688" y="2930014"/>
            <a:ext cx="1170432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9" name="TextBox 78"/>
          <p:cNvSpPr txBox="1"/>
          <p:nvPr/>
        </p:nvSpPr>
        <p:spPr>
          <a:xfrm>
            <a:off x="5568696" y="29848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E3B341"/>
                </a:solidFill>
              </a:rPr>
              <a:t>✗  not
available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75120" y="2930014"/>
            <a:ext cx="1170432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1" name="TextBox 80"/>
          <p:cNvSpPr txBox="1"/>
          <p:nvPr/>
        </p:nvSpPr>
        <p:spPr>
          <a:xfrm>
            <a:off x="6739128" y="29848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A371F7"/>
                </a:solidFill>
              </a:rPr>
              <a:t>✓ Financial
steps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45552" y="2930014"/>
            <a:ext cx="1005840" cy="457200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3" name="TextBox 82"/>
          <p:cNvSpPr txBox="1"/>
          <p:nvPr/>
        </p:nvSpPr>
        <p:spPr>
          <a:xfrm>
            <a:off x="7909560" y="298487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E3B341"/>
                </a:solidFill>
              </a:rPr>
              <a:t>3 (B only)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2608" y="3387214"/>
            <a:ext cx="233172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5" name="TextBox 84"/>
          <p:cNvSpPr txBox="1"/>
          <p:nvPr/>
        </p:nvSpPr>
        <p:spPr>
          <a:xfrm>
            <a:off x="356616" y="3442078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sys2 Background steps
(inside @sys2 feature)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24328" y="3387214"/>
            <a:ext cx="146304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7" name="TextBox 86"/>
          <p:cNvSpPr txBox="1"/>
          <p:nvPr/>
        </p:nvSpPr>
        <p:spPr>
          <a:xfrm>
            <a:off x="2688336" y="344207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SharedLoginSteps
← reused!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087368" y="3387214"/>
            <a:ext cx="141732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9" name="TextBox 88"/>
          <p:cNvSpPr txBox="1"/>
          <p:nvPr/>
        </p:nvSpPr>
        <p:spPr>
          <a:xfrm>
            <a:off x="4151376" y="344207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team-a JAR
(exported)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04688" y="3387214"/>
            <a:ext cx="1170432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1" name="TextBox 90"/>
          <p:cNvSpPr txBox="1"/>
          <p:nvPr/>
        </p:nvSpPr>
        <p:spPr>
          <a:xfrm>
            <a:off x="5568696" y="34420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58A6FF"/>
                </a:solidFill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75120" y="3387214"/>
            <a:ext cx="1170432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3" name="TextBox 92"/>
          <p:cNvSpPr txBox="1"/>
          <p:nvPr/>
        </p:nvSpPr>
        <p:spPr>
          <a:xfrm>
            <a:off x="6739128" y="344207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3FB950"/>
                </a:solidFill>
              </a:rPr>
              <a:t>✓ auto
resolved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45552" y="3387214"/>
            <a:ext cx="1005840" cy="45720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5" name="TextBox 94"/>
          <p:cNvSpPr txBox="1"/>
          <p:nvPr/>
        </p:nvSpPr>
        <p:spPr>
          <a:xfrm>
            <a:off x="7909560" y="344207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E3B341"/>
                </a:solidFill>
              </a:rPr>
              <a:t>auto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9728" y="3935854"/>
            <a:ext cx="2788920" cy="955548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7" name="TextBox 96"/>
          <p:cNvSpPr txBox="1"/>
          <p:nvPr/>
        </p:nvSpPr>
        <p:spPr>
          <a:xfrm>
            <a:off x="237744" y="4063870"/>
            <a:ext cx="2532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dirty="0">
                <a:solidFill>
                  <a:srgbClr val="3FB950"/>
                </a:solidFill>
              </a:rPr>
              <a:t>How Sharing Works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7744" y="4210174"/>
            <a:ext cx="2532888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team-b imports team-a's test-jar via Maven. Shared step classes land on team-b's classpath. Runner lists com.teama.steps.base in glue — Cucumber picks up SharedLoginSteps from the JAR automatically.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953512" y="3935854"/>
            <a:ext cx="2788920" cy="1029437"/>
          </a:xfrm>
          <a:prstGeom prst="rect">
            <a:avLst/>
          </a:prstGeom>
          <a:solidFill>
            <a:srgbClr val="161B22"/>
          </a:solidFill>
          <a:ln w="1524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0" name="TextBox 99"/>
          <p:cNvSpPr txBox="1"/>
          <p:nvPr/>
        </p:nvSpPr>
        <p:spPr>
          <a:xfrm>
            <a:off x="3081528" y="4063870"/>
            <a:ext cx="2532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dirty="0">
                <a:solidFill>
                  <a:srgbClr val="E3B341"/>
                </a:solidFill>
              </a:rPr>
              <a:t>How Page Objects Swap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81528" y="4210174"/>
            <a:ext cx="2532888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SharedLoginSteps never references System1LoginPage or System2LoginPage directly. It calls PageObjectRegistry.get(). The @Before hook placed System2PageObjectProvider in ThreadLocal, so the right page object is returned at runtime.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97296" y="3935854"/>
            <a:ext cx="2788920" cy="1039270"/>
          </a:xfrm>
          <a:prstGeom prst="rect">
            <a:avLst/>
          </a:prstGeom>
          <a:solidFill>
            <a:srgbClr val="161B22"/>
          </a:solidFill>
          <a:ln w="1524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3" name="TextBox 102"/>
          <p:cNvSpPr txBox="1"/>
          <p:nvPr/>
        </p:nvSpPr>
        <p:spPr>
          <a:xfrm>
            <a:off x="5925312" y="4063870"/>
            <a:ext cx="2532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dirty="0">
                <a:solidFill>
                  <a:srgbClr val="A371F7"/>
                </a:solidFill>
              </a:rPr>
              <a:t>What Team B Actually Writes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925312" y="4210174"/>
            <a:ext cx="2532888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dirty="0">
                <a:solidFill>
                  <a:srgbClr val="8B949E"/>
                </a:solidFill>
              </a:rPr>
              <a:t>System2PageObjectProvider  (wires page objects to interface)  System2Setup  (@Before hook, 4 lines)  System2LoginSteps  (financial steps only)  system2_specific.feature — Zero login step code written. Zero file copying.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2457</Words>
  <Application>Microsoft Macintosh PowerPoint</Application>
  <PresentationFormat>On-screen Show (16:9)</PresentationFormat>
  <Paragraphs>372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Shared Automation Framework</dc:title>
  <dc:subject>PptxGenJS Presentation</dc:subject>
  <dc:creator>Shared Automation Framework</dc:creator>
  <cp:lastModifiedBy>Achal Joshi</cp:lastModifiedBy>
  <cp:revision>14</cp:revision>
  <dcterms:created xsi:type="dcterms:W3CDTF">2026-06-25T00:23:31Z</dcterms:created>
  <dcterms:modified xsi:type="dcterms:W3CDTF">2026-06-25T06:43:40Z</dcterms:modified>
</cp:coreProperties>
</file>